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04" r:id="rId2"/>
    <p:sldId id="318" r:id="rId3"/>
    <p:sldId id="325" r:id="rId4"/>
    <p:sldId id="347" r:id="rId5"/>
    <p:sldId id="328" r:id="rId6"/>
    <p:sldId id="331" r:id="rId7"/>
    <p:sldId id="330" r:id="rId8"/>
    <p:sldId id="332" r:id="rId9"/>
    <p:sldId id="345" r:id="rId10"/>
    <p:sldId id="338" r:id="rId11"/>
    <p:sldId id="329" r:id="rId12"/>
    <p:sldId id="343" r:id="rId13"/>
    <p:sldId id="350" r:id="rId14"/>
    <p:sldId id="351" r:id="rId15"/>
    <p:sldId id="352" r:id="rId16"/>
    <p:sldId id="339" r:id="rId17"/>
    <p:sldId id="348" r:id="rId18"/>
    <p:sldId id="33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C5583-0761-4AFE-9021-2E1C29CF5958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1D3BC6-0373-4703-BF69-2251C7EC49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1D3BC6-0373-4703-BF69-2251C7EC496E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406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D3BC6-0373-4703-BF69-2251C7EC496E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D3BC6-0373-4703-BF69-2251C7EC496E}" type="slidenum">
              <a:rPr lang="en-IN" smtClean="0"/>
              <a:pPr/>
              <a:t>8</a:t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D3BC6-0373-4703-BF69-2251C7EC496E}" type="slidenum">
              <a:rPr lang="en-IN" smtClean="0"/>
              <a:pPr/>
              <a:t>11</a:t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D3BC6-0373-4703-BF69-2251C7EC496E}" type="slidenum">
              <a:rPr lang="en-IN" smtClean="0"/>
              <a:pPr/>
              <a:t>12</a:t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D3BC6-0373-4703-BF69-2251C7EC496E}" type="slidenum">
              <a:rPr lang="en-IN" smtClean="0"/>
              <a:pPr/>
              <a:t>17</a:t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200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C3C63-0C49-F591-FC79-192A7330F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162D9-389F-9E33-AF6A-C9F8B61B4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9EF78-F1F2-393B-2EC6-F519892F2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02DE-6768-42B4-9175-0DADD434166E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DE83B-82D0-8F2D-8FDD-47FCE0FD3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3EE60-8CA5-91B7-4507-05F85B0DD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326D0-3DF4-4101-B34C-5DAC71142D1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559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D54D-8843-3A20-760C-1D6CBCC3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D1B58-2A95-5CB6-2AE3-A1DB1F4D5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B8D4C-01D7-DB51-00F3-6B0F43AFD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02DE-6768-42B4-9175-0DADD434166E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FC8CA-6114-F57D-F3E1-B8FF5AF2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04FAA-A7E2-F889-C780-957F2B8F5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326D0-3DF4-4101-B34C-5DAC71142D1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983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C78AE-CC13-E7B5-33DC-913AF49DA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89C86-74CF-3297-1BB9-61F1FE02E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6FF02-460B-2730-F3A3-8123C3E87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02DE-6768-42B4-9175-0DADD434166E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5D7DB-5FBC-BF77-CC26-648B32A1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B1196-9936-5720-F010-7F15834DF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326D0-3DF4-4101-B34C-5DAC71142D1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309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1D555-3336-331E-C86C-32188979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D6C6E-3B3E-BC94-8418-9E54F55DBC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6BF75E-AFC2-0891-DFBC-0D4F821ED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3AC7D-3139-FE1E-C91C-12A0A9180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02DE-6768-42B4-9175-0DADD434166E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C3A20-703E-94E7-D849-7AF242C05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D2205-D739-2E20-BD48-750981AE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326D0-3DF4-4101-B34C-5DAC71142D1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629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31F37-F871-A402-484C-AA0624A9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1C319-A7BB-7619-A12A-A9F14547D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DC777-8CB5-988C-BEBC-B2056601D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1E5CF4-2C98-EE89-D545-E156A4AD1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CB099-953B-23D1-5810-7227C9EEE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B33DE7-0BD5-2351-3A4B-1976DD8C5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02DE-6768-42B4-9175-0DADD434166E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1AFDE5-D4E8-31F5-63D8-6F2D82F9E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3A78E-58A5-7810-CA06-F88BADB1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326D0-3DF4-4101-B34C-5DAC71142D1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911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9BDC6-1300-4CDE-F626-748ED3208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FC4D8-337F-4A90-527C-4D69C3E66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02DE-6768-42B4-9175-0DADD434166E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F707CA-B0B3-C7DC-7778-C8EAFFE63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7A5FA0-87A1-6526-52C4-CD3B5DA4E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326D0-3DF4-4101-B34C-5DAC71142D1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83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295E1E-B16B-03CB-0ECC-00B9FCEC6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02DE-6768-42B4-9175-0DADD434166E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56EEA8-6612-F68D-1F95-7834CC35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8F03E-D698-31DA-337A-3231990AD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326D0-3DF4-4101-B34C-5DAC71142D1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86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373E2-16A4-594D-21E8-8AB52833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F4284-8BA2-AA79-5DBD-4EC0B3A0D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FDC624-76D1-993B-E9BF-9893221E7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C1683-E6AF-8AF8-CB47-E229BC876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02DE-6768-42B4-9175-0DADD434166E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721DE-75B3-995C-B66C-CAD22FB39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BFB55-FAF2-2412-5FFC-D30BBE09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326D0-3DF4-4101-B34C-5DAC71142D1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881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2ADA7-A6A8-950B-61AF-7AFDB950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278A74-8F19-6120-396D-2DEA9D8FA1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36501-3BE9-9D57-AFAB-BD5ED4854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6ABE0-1BC7-28A7-A2D6-F6ABB18F6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02DE-6768-42B4-9175-0DADD434166E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C01BD-63EF-1BAA-0687-F491AB6AE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2BB1E-5B86-9348-A6B2-7BDDC557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326D0-3DF4-4101-B34C-5DAC71142D1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108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3BFE-EE06-85AA-6F03-974FFB79D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4331F-EAE3-D3DA-B288-5E0111589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5ED11-189C-015A-D980-72E629847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02DE-6768-42B4-9175-0DADD434166E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D0B9B-F4B2-15DA-ADAD-DF687DA21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18679-B26C-0815-9DE9-FC9C5167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326D0-3DF4-4101-B34C-5DAC71142D1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192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E7DFB2-38B0-6AF3-B138-38DE4E786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25B6E-6210-5D35-9A6D-ADFB94E9D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FB4DC-24FA-5B55-7FFB-BCB39CB0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02DE-6768-42B4-9175-0DADD434166E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CD9AE-9B4B-9D07-6567-AEEEB7295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7D2FB-01AB-BF1E-326C-C500B93E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326D0-3DF4-4101-B34C-5DAC71142D1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499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B2A3C9-CE81-115B-A24E-FB011481E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A9F3D-CD98-FE56-F593-53F0E3C7C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1433F-F2FB-AA63-42EF-6F3B6F8BF9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102DE-6768-42B4-9175-0DADD434166E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C01A9-8E1F-5001-23BE-9307585B31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E49AF-815B-E70F-3A11-1778B4567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326D0-3DF4-4101-B34C-5DAC71142D1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37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share.google/tdNrFIGv45URg7WLK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007/s00521-023-09391-2" TargetMode="External"/><Relationship Id="rId5" Type="http://schemas.openxmlformats.org/officeDocument/2006/relationships/hyperlink" Target="https://doi.org/10.1038/s41598-023-42356-y" TargetMode="External"/><Relationship Id="rId4" Type="http://schemas.openxmlformats.org/officeDocument/2006/relationships/hyperlink" Target="https://doi.org/10.3390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6BC1E-9818-EFA7-2E6B-8C5BBE082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B06C64E3-3F1E-3A71-D0FD-EE91ADB3A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A80012A-0822-C39F-F40F-FFE8CA01C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660" y="1523381"/>
            <a:ext cx="9504680" cy="12604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EF0EF78-07F6-FA8F-C94D-D53CA74C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19D2BA4-F0CE-29A1-D66D-27875956C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261530"/>
              </p:ext>
            </p:extLst>
          </p:nvPr>
        </p:nvGraphicFramePr>
        <p:xfrm>
          <a:off x="2111722" y="2481647"/>
          <a:ext cx="8581159" cy="25110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81159">
                  <a:extLst>
                    <a:ext uri="{9D8B030D-6E8A-4147-A177-3AD203B41FA5}">
                      <a16:colId xmlns:a16="http://schemas.microsoft.com/office/drawing/2014/main" val="1976191973"/>
                    </a:ext>
                  </a:extLst>
                </a:gridCol>
              </a:tblGrid>
              <a:tr h="6802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Neha                                    2203A52168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Nikhitha                                2203A52232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Vishishta                               2203A52186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V. Janani                                   2203A52185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M. Avinash                               2203A52227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Swetha                                 2203A52102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44351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8763DE7-7414-5634-94C5-BD0A5D398115}"/>
              </a:ext>
            </a:extLst>
          </p:cNvPr>
          <p:cNvSpPr txBox="1"/>
          <p:nvPr/>
        </p:nvSpPr>
        <p:spPr>
          <a:xfrm>
            <a:off x="7697094" y="5403039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1414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  <a:r>
              <a:rPr lang="en-US" b="0" i="0" dirty="0">
                <a:solidFill>
                  <a:srgbClr val="1414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DR.ANURODH KUMAR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0" dirty="0">
                <a:solidFill>
                  <a:srgbClr val="1414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Institution:</a:t>
            </a:r>
            <a:r>
              <a:rPr lang="en-US" b="0" i="0" dirty="0">
                <a:solidFill>
                  <a:srgbClr val="1414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SR University, Warangal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90749" y="962025"/>
            <a:ext cx="917257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AI‑ Based Crop &amp; Organic Pest Recommendation System</a:t>
            </a:r>
          </a:p>
          <a:p>
            <a:pPr algn="ctr"/>
            <a:r>
              <a:rPr lang="en-I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Soil and Dynamic Weather Data</a:t>
            </a:r>
          </a:p>
          <a:p>
            <a:pPr algn="ctr"/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/>
              </a:rPr>
              <a:t>TEAM MEMBERS: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86909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ABSTRACT</a:t>
              </a:r>
              <a:endPara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AutoShape 4">
            <a:extLst>
              <a:ext uri="{FF2B5EF4-FFF2-40B4-BE49-F238E27FC236}">
                <a16:creationId xmlns:a16="http://schemas.microsoft.com/office/drawing/2014/main" id="{1ECE6549-F61C-7D5C-D2CB-4D16467DB4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51278" y="-31844"/>
            <a:ext cx="3464256" cy="346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304801" y="934720"/>
            <a:ext cx="11441722" cy="577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Develops an Explainable AI-based Crop &amp; Organic Pest Recommendation System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Suggests suitable crops using soil nutrients (N, P, K), pH, and location data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Integrates real-time weather data for better prediction accuracy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Uses multiple ML models: Random Forest, Decision Tree, Logistic Regression, KNN, SVM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Random Forest gives highest accuracy in crop prediction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Built using Python and Flask with a user-friendly web interface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Includes Explainable AI (XAI) to show how predictions are made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Recommends organic pest control methods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Promotes sustainable and eco-friendly farming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Helps increase crop yield and reduce farming risks</a:t>
            </a:r>
          </a:p>
          <a:p>
            <a:pPr>
              <a:lnSpc>
                <a:spcPct val="150000"/>
              </a:lnSpc>
            </a:pP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11" descr="crop 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541" y="3357301"/>
            <a:ext cx="4190808" cy="262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513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statement</a:t>
              </a: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3F2CA04D-2FA9-53FE-7D48-BA0863F0807A}"/>
              </a:ext>
            </a:extLst>
          </p:cNvPr>
          <p:cNvSpPr/>
          <p:nvPr/>
        </p:nvSpPr>
        <p:spPr>
          <a:xfrm>
            <a:off x="721360" y="1733518"/>
            <a:ext cx="11206480" cy="423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0E50D0-8301-8C8D-9E76-716E40DA127B}"/>
              </a:ext>
            </a:extLst>
          </p:cNvPr>
          <p:cNvSpPr txBox="1"/>
          <p:nvPr/>
        </p:nvSpPr>
        <p:spPr>
          <a:xfrm>
            <a:off x="172721" y="1041721"/>
            <a:ext cx="11760778" cy="542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Lack of access to expert agricultural guidance leads to poor decision-making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Crop selection based on guesswork and experience reduces yield quality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Soil fertility and weather conditions vary, affecting crop suitability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Traditional methods do not use real-time weather data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Limited awareness of data-driven and scientific farming techniques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Dependence on chemical pest control and lack of eco-friendly solutions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Improper crop selection can result in financial losses for farmers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Limited access to modern tools and technologies in rural areas</a:t>
            </a:r>
          </a:p>
          <a:p>
            <a:br>
              <a:rPr lang="en-US" sz="2100" dirty="0"/>
            </a:b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33790987-C0E7-D2ED-262F-9F62F371DE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914400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9097348" y="1660849"/>
            <a:ext cx="1519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endParaRPr lang="en-US" dirty="0"/>
          </a:p>
        </p:txBody>
      </p:sp>
      <p:sp>
        <p:nvSpPr>
          <p:cNvPr id="17410" name="AutoShape 2" descr="Generated image: Smart farming guidance for grower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 descr="ChatGPT Image Mar 15, 2026, 08_31_55 PM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700690" y="2036501"/>
            <a:ext cx="2527139" cy="274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35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8-23 at 15.43.17">
            <a:extLst>
              <a:ext uri="{FF2B5EF4-FFF2-40B4-BE49-F238E27FC236}">
                <a16:creationId xmlns:a16="http://schemas.microsoft.com/office/drawing/2014/main" id="{6EFD5357-F2EC-C748-1CA4-7697D0D39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5" y="326769"/>
            <a:ext cx="1277113" cy="50317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C582EBE-D0ED-22C3-075F-AC302F6CA68E}"/>
              </a:ext>
            </a:extLst>
          </p:cNvPr>
          <p:cNvGrpSpPr/>
          <p:nvPr/>
        </p:nvGrpSpPr>
        <p:grpSpPr>
          <a:xfrm>
            <a:off x="2206401" y="253354"/>
            <a:ext cx="9507064" cy="596635"/>
            <a:chOff x="2336800" y="134364"/>
            <a:chExt cx="9745291" cy="1126931"/>
          </a:xfrm>
          <a:solidFill>
            <a:srgbClr val="194E91"/>
          </a:solidFill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AAF756-94D2-6192-B785-B6ED1625182E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14FCE10-71B8-845B-C026-816DE4B8BC55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9882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 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E980C0-863E-6F9B-CDAB-1A9920309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666599"/>
              </p:ext>
            </p:extLst>
          </p:nvPr>
        </p:nvGraphicFramePr>
        <p:xfrm>
          <a:off x="82296" y="1203742"/>
          <a:ext cx="11853672" cy="5436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251">
                  <a:extLst>
                    <a:ext uri="{9D8B030D-6E8A-4147-A177-3AD203B41FA5}">
                      <a16:colId xmlns:a16="http://schemas.microsoft.com/office/drawing/2014/main" val="1241097752"/>
                    </a:ext>
                  </a:extLst>
                </a:gridCol>
                <a:gridCol w="1215837">
                  <a:extLst>
                    <a:ext uri="{9D8B030D-6E8A-4147-A177-3AD203B41FA5}">
                      <a16:colId xmlns:a16="http://schemas.microsoft.com/office/drawing/2014/main" val="2948658206"/>
                    </a:ext>
                  </a:extLst>
                </a:gridCol>
                <a:gridCol w="3035808">
                  <a:extLst>
                    <a:ext uri="{9D8B030D-6E8A-4147-A177-3AD203B41FA5}">
                      <a16:colId xmlns:a16="http://schemas.microsoft.com/office/drawing/2014/main" val="246602437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1341375190"/>
                    </a:ext>
                  </a:extLst>
                </a:gridCol>
                <a:gridCol w="3404616">
                  <a:extLst>
                    <a:ext uri="{9D8B030D-6E8A-4147-A177-3AD203B41FA5}">
                      <a16:colId xmlns:a16="http://schemas.microsoft.com/office/drawing/2014/main" val="2051217209"/>
                    </a:ext>
                  </a:extLst>
                </a:gridCol>
              </a:tblGrid>
              <a:tr h="407384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S.</a:t>
                      </a:r>
                      <a:r>
                        <a:rPr lang="en-IN" sz="1600" dirty="0" err="1"/>
                        <a:t>N</a:t>
                      </a:r>
                      <a:r>
                        <a:rPr lang="en-IN" dirty="0" err="1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Abstract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Implementation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615251"/>
                  </a:ext>
                </a:extLst>
              </a:tr>
              <a:tr h="6435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2023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Machine Learning-Based Optimal Crop Selection System in Smart Agriculture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ML system using weather and soil data. Uses LSTM for weather prediction and Random Forest for crop selection with ~97% accuracy.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LSTM predicts weather (temperature, rainfall). Random Forest uses soil + predicted weather for crop and sowing time recommendation.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45451"/>
                  </a:ext>
                </a:extLst>
              </a:tr>
              <a:tr h="6435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2023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Times New Roman" pitchFamily="18" charset="0"/>
                          <a:cs typeface="Times New Roman" pitchFamily="18" charset="0"/>
                        </a:rPr>
                        <a:t>Streamlit</a:t>
                      </a: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 Application for Advanced Ensemble Systems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Ensemble ML models are combined and deployed using </a:t>
                      </a:r>
                      <a:r>
                        <a:rPr lang="en-US" sz="1400" dirty="0" err="1">
                          <a:latin typeface="Times New Roman" pitchFamily="18" charset="0"/>
                          <a:cs typeface="Times New Roman" pitchFamily="18" charset="0"/>
                        </a:rPr>
                        <a:t>Streamlit</a:t>
                      </a: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 to improve accuracy and provide interactive user experience.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Uses voting/bagging ensemble techniques. </a:t>
                      </a:r>
                      <a:r>
                        <a:rPr lang="en-US" sz="1400" dirty="0" err="1">
                          <a:latin typeface="Times New Roman" pitchFamily="18" charset="0"/>
                          <a:cs typeface="Times New Roman" pitchFamily="18" charset="0"/>
                        </a:rPr>
                        <a:t>Streamlit</a:t>
                      </a: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 provides real-time UI and prediction interface.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191700"/>
                  </a:ext>
                </a:extLst>
              </a:tr>
              <a:tr h="6435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2023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Data-Driven Crop and Fertilizer Recommendation System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Neural Network and rule-based system integrated with IoT data for crop and fertilizer recommendation with ~97% accuracy.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Neural Network predicts crops using NPK and pH values. Rule-based logic suggests fertilizers based on soil conditions.</a:t>
                      </a:r>
                      <a:endParaRPr lang="en-IN" sz="1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918500"/>
                  </a:ext>
                </a:extLst>
              </a:tr>
              <a:tr h="6435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itchFamily="18" charset="0"/>
                          <a:cs typeface="Times New Roman" pitchFamily="18" charset="0"/>
                        </a:rPr>
                        <a:t>AI for Sustainable Agriculture: A Comprehensive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Reviews ML, DL, and time-series models (SVM, CNN, RNN) for crop prediction, yield estimation, and resource management.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Pipeline: data collection → preprocessing → ML/DL models. Used for prediction, classification, and agricultural decision-making.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029314"/>
                  </a:ext>
                </a:extLst>
              </a:tr>
              <a:tr h="6435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ML-Based Frameworks for Reliable and Sustainable Crop Forecasting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Reviews ML/DL frameworks using satellite, weather, and soil data for crop yield prediction and health monitoring.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Feature extraction (e.g., NDVI) from remote sensing data. ML/DL models predict crop yield and monitor crop health.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008434"/>
                  </a:ext>
                </a:extLst>
              </a:tr>
              <a:tr h="6435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2024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Revolutionizing Crop Disease Detection with Computational Deep Learning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Reviews ML and DL techniques like CNN and SVM for crop disease detection. Discusses datasets, methods, and research gaps.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Collects plant leaf images and preprocesses them. Extracts features and trains CNN/SVM models for disease classification. Evaluates accuracy of different algorithms.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240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090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279552" y="125786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Proposed Solution</a:t>
              </a: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3F2CA04D-2FA9-53FE-7D48-BA0863F0807A}"/>
              </a:ext>
            </a:extLst>
          </p:cNvPr>
          <p:cNvSpPr/>
          <p:nvPr/>
        </p:nvSpPr>
        <p:spPr>
          <a:xfrm>
            <a:off x="721360" y="1733518"/>
            <a:ext cx="11206480" cy="423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4" descr="A blue circle with a man in the center and a bunch of medical symbols around him.">
            <a:extLst>
              <a:ext uri="{FF2B5EF4-FFF2-40B4-BE49-F238E27FC236}">
                <a16:creationId xmlns:a16="http://schemas.microsoft.com/office/drawing/2014/main" id="{41627E0E-F715-826D-F268-CC4F0C62A7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41176" y="1011142"/>
            <a:ext cx="10851502" cy="7086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dataset contains 57,000 rows and 8 columns representing soil and environmental features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used for training and testing machine learning models.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used for predicting suitable crops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based on soil and climatic conditions.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link: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Recommendation Dataset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https://share.google/tdNrFIGv45URg7WLK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N, P, K, pH, temperature, humidity, rainfall,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and label – crop type.</a:t>
            </a:r>
            <a:endParaRPr lang="en-US" sz="21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Crop Name (Target Variable)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features help the model understand soil fertility </a:t>
            </a:r>
          </a:p>
          <a:p>
            <a:pPr>
              <a:lnSpc>
                <a:spcPct val="15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and environmental conditions.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algn="just">
              <a:lnSpc>
                <a:spcPct val="150000"/>
              </a:lnSpc>
            </a:pPr>
            <a:endParaRPr lang="en-IN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61C659-EA99-30FC-2128-D581A54FD2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846" y="2085179"/>
            <a:ext cx="5212593" cy="310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070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279552" y="125786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defRPr sz="3000" b="1">
                  <a:solidFill>
                    <a:srgbClr val="F2F2F2"/>
                  </a:solidFill>
                  <a:latin typeface="Calibri"/>
                </a:defRPr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          System Architecture</a:t>
              </a: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3F2CA04D-2FA9-53FE-7D48-BA0863F0807A}"/>
              </a:ext>
            </a:extLst>
          </p:cNvPr>
          <p:cNvSpPr/>
          <p:nvPr/>
        </p:nvSpPr>
        <p:spPr>
          <a:xfrm>
            <a:off x="721360" y="1733518"/>
            <a:ext cx="11206480" cy="423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68821" y="1096283"/>
            <a:ext cx="9753600" cy="519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24850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279552" y="125786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defRPr sz="3000" b="1">
                  <a:solidFill>
                    <a:srgbClr val="F2F2F2"/>
                  </a:solidFill>
                  <a:latin typeface="Calibri"/>
                </a:defRPr>
              </a:pPr>
              <a:r>
                <a:rPr lang="en-IN" sz="2800" dirty="0"/>
                <a:t>                                                </a:t>
              </a: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Work Flow</a:t>
              </a: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3F2CA04D-2FA9-53FE-7D48-BA0863F0807A}"/>
              </a:ext>
            </a:extLst>
          </p:cNvPr>
          <p:cNvSpPr/>
          <p:nvPr/>
        </p:nvSpPr>
        <p:spPr>
          <a:xfrm>
            <a:off x="721360" y="1733518"/>
            <a:ext cx="11206480" cy="423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6560" y="944215"/>
            <a:ext cx="9773920" cy="2942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100" dirty="0"/>
              <a:t>Weather API provides weather data such as temperature, humidity, and rainfall.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Farmer enters location and soil details (N, P, K, pH).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The system sends the data to the server for processing.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A machine learning model predicts the most suitable crop.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XAI (Explainable AI) generates insights explaining the recommendation.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The final crop recommendation and explanation are displayed to the farmer.</a:t>
            </a:r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18613" y="3891280"/>
            <a:ext cx="7554773" cy="2766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53507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279552" y="125786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Technology</a:t>
              </a: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3F2CA04D-2FA9-53FE-7D48-BA0863F0807A}"/>
              </a:ext>
            </a:extLst>
          </p:cNvPr>
          <p:cNvSpPr/>
          <p:nvPr/>
        </p:nvSpPr>
        <p:spPr>
          <a:xfrm>
            <a:off x="721360" y="1733518"/>
            <a:ext cx="11206480" cy="423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1EECAF-78E2-6E06-7138-6A7116C2B827}"/>
              </a:ext>
            </a:extLst>
          </p:cNvPr>
          <p:cNvSpPr txBox="1"/>
          <p:nvPr/>
        </p:nvSpPr>
        <p:spPr>
          <a:xfrm>
            <a:off x="481262" y="1035655"/>
            <a:ext cx="8601777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machine learning models are proposed: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Classifier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are chosen because: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perform well on classification tasks.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handle nonlinear data effectively.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provide good accuracy for agricultural prediction systems.</a:t>
            </a:r>
          </a:p>
          <a:p>
            <a:b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b7f6dd45-4d5c-4742-8f3d-e6644a2fb6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432560"/>
            <a:ext cx="5486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088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279552" y="125786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 &amp; Performance</a:t>
              </a:r>
              <a:endPara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3F2CA04D-2FA9-53FE-7D48-BA0863F0807A}"/>
              </a:ext>
            </a:extLst>
          </p:cNvPr>
          <p:cNvSpPr/>
          <p:nvPr/>
        </p:nvSpPr>
        <p:spPr>
          <a:xfrm>
            <a:off x="721360" y="1733518"/>
            <a:ext cx="11206480" cy="423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4" descr="A blue circle with a man in the center and a bunch of medical symbols around him.">
            <a:extLst>
              <a:ext uri="{FF2B5EF4-FFF2-40B4-BE49-F238E27FC236}">
                <a16:creationId xmlns:a16="http://schemas.microsoft.com/office/drawing/2014/main" id="{41627E0E-F715-826D-F268-CC4F0C62A7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43339" y="1177761"/>
            <a:ext cx="7094376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35EFF38-8C3F-A543-45F3-8CA180146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04263"/>
              </p:ext>
            </p:extLst>
          </p:nvPr>
        </p:nvGraphicFramePr>
        <p:xfrm>
          <a:off x="630936" y="1453601"/>
          <a:ext cx="11133137" cy="4226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518">
                  <a:extLst>
                    <a:ext uri="{9D8B030D-6E8A-4147-A177-3AD203B41FA5}">
                      <a16:colId xmlns:a16="http://schemas.microsoft.com/office/drawing/2014/main" val="1803490036"/>
                    </a:ext>
                  </a:extLst>
                </a:gridCol>
                <a:gridCol w="1795091">
                  <a:extLst>
                    <a:ext uri="{9D8B030D-6E8A-4147-A177-3AD203B41FA5}">
                      <a16:colId xmlns:a16="http://schemas.microsoft.com/office/drawing/2014/main" val="2945909082"/>
                    </a:ext>
                  </a:extLst>
                </a:gridCol>
                <a:gridCol w="1865556">
                  <a:extLst>
                    <a:ext uri="{9D8B030D-6E8A-4147-A177-3AD203B41FA5}">
                      <a16:colId xmlns:a16="http://schemas.microsoft.com/office/drawing/2014/main" val="554942173"/>
                    </a:ext>
                  </a:extLst>
                </a:gridCol>
                <a:gridCol w="1830324">
                  <a:extLst>
                    <a:ext uri="{9D8B030D-6E8A-4147-A177-3AD203B41FA5}">
                      <a16:colId xmlns:a16="http://schemas.microsoft.com/office/drawing/2014/main" val="2831391546"/>
                    </a:ext>
                  </a:extLst>
                </a:gridCol>
                <a:gridCol w="1830324">
                  <a:extLst>
                    <a:ext uri="{9D8B030D-6E8A-4147-A177-3AD203B41FA5}">
                      <a16:colId xmlns:a16="http://schemas.microsoft.com/office/drawing/2014/main" val="1322816065"/>
                    </a:ext>
                  </a:extLst>
                </a:gridCol>
                <a:gridCol w="1830324">
                  <a:extLst>
                    <a:ext uri="{9D8B030D-6E8A-4147-A177-3AD203B41FA5}">
                      <a16:colId xmlns:a16="http://schemas.microsoft.com/office/drawing/2014/main" val="2983750584"/>
                    </a:ext>
                  </a:extLst>
                </a:gridCol>
              </a:tblGrid>
              <a:tr h="51682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Recall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Loss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068049"/>
                  </a:ext>
                </a:extLst>
              </a:tr>
              <a:tr h="89205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91.92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92.30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91.92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91.81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8.08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386417"/>
                  </a:ext>
                </a:extLst>
              </a:tr>
              <a:tr h="89205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88.75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88.71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88.75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88.73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961189"/>
                  </a:ext>
                </a:extLst>
              </a:tr>
              <a:tr h="89205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81.17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80.73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81.17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80.54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18.83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187462"/>
                  </a:ext>
                </a:extLst>
              </a:tr>
              <a:tr h="51682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KNN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88.12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88.38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88.12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88.11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11.88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124313"/>
                  </a:ext>
                </a:extLst>
              </a:tr>
              <a:tr h="51682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SVM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87.33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88.84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87.33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86.82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12.67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810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070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5C304-8A3F-FE93-D763-8C702C133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4FFBC738-3714-0F68-4B4F-AD1D8DFF4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7F949BD-4A8E-10A1-1118-15B44D7DC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8062E3-C0A7-E6D0-9D24-2941763B2569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71D6C4-9458-9A53-D514-5218E73CCBE9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72A7089-85D1-011F-7DB7-FF24800DF3E6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BB3DDFA-4D28-2360-3C63-1E60B65E4F79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 &amp; Performance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7B162C7-4B70-BFEC-B99C-2EE24F54BC95}"/>
              </a:ext>
            </a:extLst>
          </p:cNvPr>
          <p:cNvSpPr txBox="1"/>
          <p:nvPr/>
        </p:nvSpPr>
        <p:spPr>
          <a:xfrm>
            <a:off x="538480" y="1066801"/>
            <a:ext cx="11141771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Random Forest is Best:</a:t>
            </a:r>
          </a:p>
          <a:p>
            <a:endParaRPr lang="en-IN" sz="2000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Accuracy (91%) – It correctly predicts more samples compared to other models.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Precision and Recall – It maintains strong performance across all classes.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F1-Score – Shows good balance between precision and recall.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Unlike Decision Tree, it uses multiple trees and averages results.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Complex Data Well – Works better with nonlinear relationships and large feature sets.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Stable – Less sensitive to noise compared to single models like Logistic Regression or Naive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Bayes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performs best because it combines multiple decision trees, reduces variance, improves generalization, and provides the most consistent performance among all models.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521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279552" y="125786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Experimental Setup &amp; Results</a:t>
              </a:r>
              <a:endPara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3F2CA04D-2FA9-53FE-7D48-BA0863F0807A}"/>
              </a:ext>
            </a:extLst>
          </p:cNvPr>
          <p:cNvSpPr/>
          <p:nvPr/>
        </p:nvSpPr>
        <p:spPr>
          <a:xfrm>
            <a:off x="721360" y="1733518"/>
            <a:ext cx="11206480" cy="423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2" name="AutoShape 2" descr="Crop yield prediction in Agriculture 📈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44" name="AutoShape 4" descr="Crop yield prediction in Agriculture 📈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90" name="AutoShape 2" descr="Generated image: Machine learning in agriculture infographi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94640" y="1157744"/>
            <a:ext cx="116941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Accuracy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Existing models achieve 85–90%, while proposed system reaches ~91%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Models: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Papers use SVM, CNN, RNN, LSTM, basic ML models; proposed uses multiple models with optimized Random Forest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 Usage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Existing works use limited data (soil OR weather); proposed uses soil (NPK, pH) + location + real-time weather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Weather Integration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Many use static/predicted data; proposed uses dynamic real-time weather data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Approach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Existing systems are single/basic models; proposed uses multi-model comparison + Explainable AI (XAI)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Explainability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Limited in papers; proposed system provides clear prediction explanations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Deployment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Mostly theoretical/offline; proposed is a Flask-based web application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Additional Feature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Existing focus on crop prediction; proposed also gives organic pest control suggestions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Conclusion: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Proposed system is more accurate (~91%), practical, transparent, and user-friendly compared to existing research.</a:t>
            </a:r>
          </a:p>
        </p:txBody>
      </p:sp>
    </p:spTree>
    <p:extLst>
      <p:ext uri="{BB962C8B-B14F-4D97-AF65-F5344CB8AC3E}">
        <p14:creationId xmlns:p14="http://schemas.microsoft.com/office/powerpoint/2010/main" val="2120176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F7720-4604-AC84-1E34-33C22F8E5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AE446F2B-C3F5-B0E6-3A6C-FB0D73300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F6FE011-7A57-82CE-7D65-CD3015C7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8B691A-146A-6FEE-C7E3-08C7C078395D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D176075-C2E2-E160-4171-AD433AF0133F}"/>
              </a:ext>
            </a:extLst>
          </p:cNvPr>
          <p:cNvGrpSpPr/>
          <p:nvPr/>
        </p:nvGrpSpPr>
        <p:grpSpPr>
          <a:xfrm>
            <a:off x="2182549" y="136411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CFD0F21-9708-B679-15AC-9CE25873C28E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9816351-E5CA-DFC8-D9C6-043CFFA42600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Overview of Output</a:t>
              </a: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D389904B-3EA4-853A-5A8E-57FB8FBB7DC1}"/>
              </a:ext>
            </a:extLst>
          </p:cNvPr>
          <p:cNvSpPr/>
          <p:nvPr/>
        </p:nvSpPr>
        <p:spPr>
          <a:xfrm>
            <a:off x="721360" y="1733518"/>
            <a:ext cx="11206480" cy="423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18AF29-1120-6B3D-7193-F685271BAE3F}"/>
              </a:ext>
            </a:extLst>
          </p:cNvPr>
          <p:cNvSpPr txBox="1"/>
          <p:nvPr/>
        </p:nvSpPr>
        <p:spPr>
          <a:xfrm>
            <a:off x="787623" y="3201274"/>
            <a:ext cx="360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</a:t>
            </a:r>
            <a:endParaRPr lang="en-IN" dirty="0"/>
          </a:p>
        </p:txBody>
      </p:sp>
      <p:pic>
        <p:nvPicPr>
          <p:cNvPr id="19" name="Picture 18" descr="WhatsApp Image 2026-03-19 at 9.29.30 P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605" y="1129351"/>
            <a:ext cx="8181677" cy="44273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06216" y="5975469"/>
            <a:ext cx="244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 1.1</a:t>
            </a:r>
          </a:p>
        </p:txBody>
      </p:sp>
    </p:spTree>
    <p:extLst>
      <p:ext uri="{BB962C8B-B14F-4D97-AF65-F5344CB8AC3E}">
        <p14:creationId xmlns:p14="http://schemas.microsoft.com/office/powerpoint/2010/main" val="1786300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3-19 at 9.29.31 PM (1).jpeg">
            <a:extLst>
              <a:ext uri="{FF2B5EF4-FFF2-40B4-BE49-F238E27FC236}">
                <a16:creationId xmlns:a16="http://schemas.microsoft.com/office/drawing/2014/main" id="{7673EA94-4819-B63B-028C-72906DE5A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116" y="308009"/>
            <a:ext cx="9113768" cy="57655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E19879-6558-6817-C96D-3483F5131EB4}"/>
              </a:ext>
            </a:extLst>
          </p:cNvPr>
          <p:cNvSpPr txBox="1"/>
          <p:nvPr/>
        </p:nvSpPr>
        <p:spPr>
          <a:xfrm>
            <a:off x="5621153" y="6211669"/>
            <a:ext cx="1905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 1.2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7371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3-19 at 9.29.31 PM (2).jpeg">
            <a:extLst>
              <a:ext uri="{FF2B5EF4-FFF2-40B4-BE49-F238E27FC236}">
                <a16:creationId xmlns:a16="http://schemas.microsoft.com/office/drawing/2014/main" id="{01512979-C928-5F33-8B3B-2528A23B2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5" y="779646"/>
            <a:ext cx="10314450" cy="49546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0BCD3D-0AF6-53CB-7026-B7DBBB18BE15}"/>
              </a:ext>
            </a:extLst>
          </p:cNvPr>
          <p:cNvSpPr txBox="1"/>
          <p:nvPr/>
        </p:nvSpPr>
        <p:spPr>
          <a:xfrm>
            <a:off x="5476775" y="6078354"/>
            <a:ext cx="2156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 1.3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2800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3-19 at 9.29.31 PM.jpeg">
            <a:extLst>
              <a:ext uri="{FF2B5EF4-FFF2-40B4-BE49-F238E27FC236}">
                <a16:creationId xmlns:a16="http://schemas.microsoft.com/office/drawing/2014/main" id="{46DDAC1E-4A73-C6D1-245B-699BB9525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685" y="789272"/>
            <a:ext cx="9709856" cy="48222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AA8A9D-B093-4BDE-62E6-89066B3E4EB9}"/>
              </a:ext>
            </a:extLst>
          </p:cNvPr>
          <p:cNvSpPr txBox="1"/>
          <p:nvPr/>
        </p:nvSpPr>
        <p:spPr>
          <a:xfrm>
            <a:off x="5900286" y="5986913"/>
            <a:ext cx="3724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 1.4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6085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2244C-1498-2A9D-EB0D-512384B4B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B4852C90-3319-FABE-16F7-80DB0503D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741E467-1141-181D-160D-20BF6678C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05B4B4-2AAD-9E7B-5C6B-8084ADC2C5E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26F789-A12A-1667-E702-D93BFB6A8DEC}"/>
              </a:ext>
            </a:extLst>
          </p:cNvPr>
          <p:cNvGrpSpPr/>
          <p:nvPr/>
        </p:nvGrpSpPr>
        <p:grpSpPr>
          <a:xfrm>
            <a:off x="2279552" y="125786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3EA2D69-B189-662A-F737-4D94402BE53D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C8F5910-F0FB-77FE-B562-A10A6961D8AB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07185481-7F52-DA3F-83C0-F01619F6936F}"/>
              </a:ext>
            </a:extLst>
          </p:cNvPr>
          <p:cNvSpPr/>
          <p:nvPr/>
        </p:nvSpPr>
        <p:spPr>
          <a:xfrm>
            <a:off x="721360" y="1733518"/>
            <a:ext cx="11206480" cy="423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016BED-7A95-0150-71E2-489E48418C42}"/>
              </a:ext>
            </a:extLst>
          </p:cNvPr>
          <p:cNvSpPr txBox="1"/>
          <p:nvPr/>
        </p:nvSpPr>
        <p:spPr>
          <a:xfrm>
            <a:off x="345440" y="900569"/>
            <a:ext cx="861568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Developed a Machine Learning–based Crop Recommendation System that suggests suitable crops using soil nutrients (N, P, K), pH, temperature, humidity, and rainfall data.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Implemented and compared multiple ML models such as Random Forest, Decision Tree, SVM, Logistic Regression, and KNN to evaluate performance.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 Random Forest achieved the highest accuracy, making it the most effective model for crop prediction.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Integrated 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real‑time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weather data using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OpenWeather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API, improving the accuracy and practicality of recommendations.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Added Explainable AI (LIME) to show the important factors influencing predictions, increasing transparency and trust.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Built a 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Flask‑based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web interface, making the system easy for farmers to use and helping them make 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data‑driven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agricultural decisions.</a:t>
            </a:r>
          </a:p>
          <a:p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61755" y="1466494"/>
            <a:ext cx="3230245" cy="2842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25803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8-23 at 15.43.17">
            <a:extLst>
              <a:ext uri="{FF2B5EF4-FFF2-40B4-BE49-F238E27FC236}">
                <a16:creationId xmlns:a16="http://schemas.microsoft.com/office/drawing/2014/main" id="{2C6E4F8C-28CE-1A73-3FAC-D84930585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35" y="326769"/>
            <a:ext cx="1277113" cy="50317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2BB34D3-C06C-C598-D779-31B8091EF38B}"/>
              </a:ext>
            </a:extLst>
          </p:cNvPr>
          <p:cNvGrpSpPr/>
          <p:nvPr/>
        </p:nvGrpSpPr>
        <p:grpSpPr>
          <a:xfrm>
            <a:off x="2206401" y="253354"/>
            <a:ext cx="9507064" cy="596635"/>
            <a:chOff x="2336800" y="134364"/>
            <a:chExt cx="9745291" cy="1126931"/>
          </a:xfrm>
          <a:solidFill>
            <a:srgbClr val="194E91"/>
          </a:solidFill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61D0A00-4720-DF2B-CA25-4CC2EE7BCDDC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FA5693C-73FB-4AF0-5F72-69363C4D164C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9882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References 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4A197CE-9BEF-A6C6-E20F-B9CC5D27CA54}"/>
              </a:ext>
            </a:extLst>
          </p:cNvPr>
          <p:cNvSpPr txBox="1"/>
          <p:nvPr/>
        </p:nvSpPr>
        <p:spPr>
          <a:xfrm>
            <a:off x="231725" y="1012439"/>
            <a:ext cx="1174089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Ngugi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H.N.,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Ezugwu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A.E.,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Akinyelu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A.A. et al. Revolutionizing crop disease detection with computational deep learning: a comprehensive review. Environ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Monit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Assess 196, 302 (2024).   https://doi.org/10.1007/s10661-024-12454-z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Musanase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C.;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Vodacek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A.;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Hanyurwimfura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D.;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Uwitonze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A.;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Kabandana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I. Data-Driven Analysis and Machine Learning-Based Crop and Fertilizer Recommendation System for Revolutionizing Farming Practices. Agriculture 2023, 13, 2141. </a:t>
            </a:r>
            <a:r>
              <a:rPr lang="en-IN" dirty="0">
                <a:latin typeface="Times New Roman" pitchFamily="18" charset="0"/>
                <a:cs typeface="Times New Roman" pitchFamily="18" charset="0"/>
                <a:hlinkClick r:id="rId4"/>
              </a:rPr>
              <a:t>https://doi.org/10.3390/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agriculture13112141</a:t>
            </a:r>
          </a:p>
          <a:p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Citation: Ali, Z.; Muhammad, A.; Lee, N.; Waqar, M.; Lee, S.W. Artificial Intelligence for Sustainable Agriculture: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AComprehensive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Review of AI-Driven Technologies in Crop Production. Sustainability 2025, 17, 2281. </a:t>
            </a:r>
            <a:r>
              <a:rPr lang="en-IN" dirty="0">
                <a:latin typeface="Times New Roman" pitchFamily="18" charset="0"/>
                <a:cs typeface="Times New Roman" pitchFamily="18" charset="0"/>
                <a:hlinkClick r:id="rId4"/>
              </a:rPr>
              <a:t>https://doi.org/10.3390/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su17052281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Citation: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Singh,K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Yadav,M.;Barak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D.; Bansal, S.; Moreira, F. Machine-Learning-Based Frameworks for Reliable and Sustainable Crop Forecasting. Sustainability 2025, 17, 4711. </a:t>
            </a:r>
            <a:r>
              <a:rPr lang="en-US" dirty="0">
                <a:latin typeface="Times New Roman" pitchFamily="18" charset="0"/>
                <a:cs typeface="Times New Roman" pitchFamily="18" charset="0"/>
                <a:hlinkClick r:id="rId4"/>
              </a:rPr>
              <a:t>https://doi.org/10.3390/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su17104711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Rani, S., Mishra, A.K., Kataria, A. et al. Machine learning-based optimal crop selection system in smart agriculture. Sci Rep 13, 15997 (2023). </a:t>
            </a:r>
            <a:r>
              <a:rPr lang="en-US" dirty="0">
                <a:latin typeface="Times New Roman" pitchFamily="18" charset="0"/>
                <a:cs typeface="Times New Roman" pitchFamily="18" charset="0"/>
                <a:hlinkClick r:id="rId5"/>
              </a:rPr>
              <a:t>https://doi.org/10.1038/s41598-023-42356-y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Shams, M.Y., Gamel, S.A. &amp; Talaat, F.M. Enhancing crop recommendation systems with explainable artificial intelligence: a study on agricultural decision-making. Neural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Comput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Applic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36, 5695–5714 (2024).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6"/>
              </a:rPr>
              <a:t>https://doi.org/10.1007/s00521-023-09391-2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3509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16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44259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16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335" name="Google Shape;335;p16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6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6245C8-5E32-99B7-6CE7-799968AF29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788599-45A6-E715-B8CC-791321439C38}"/>
              </a:ext>
            </a:extLst>
          </p:cNvPr>
          <p:cNvSpPr txBox="1"/>
          <p:nvPr/>
        </p:nvSpPr>
        <p:spPr>
          <a:xfrm>
            <a:off x="3657600" y="1871132"/>
            <a:ext cx="715788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dirty="0">
                <a:latin typeface="Algerian" panose="04020705040A02060702" pitchFamily="82" charset="0"/>
              </a:rPr>
              <a:t>THANK YOU….</a:t>
            </a:r>
            <a:endParaRPr lang="en-IN" sz="6500" dirty="0">
              <a:latin typeface="Algerian" panose="04020705040A02060702" pitchFamily="82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2127" y="1045030"/>
            <a:ext cx="11354637" cy="5536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07922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1666</Words>
  <Application>Microsoft Office PowerPoint</Application>
  <PresentationFormat>Widescreen</PresentationFormat>
  <Paragraphs>214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pravalika pullabatla</dc:creator>
  <cp:lastModifiedBy>swetha rao masadi</cp:lastModifiedBy>
  <cp:revision>39</cp:revision>
  <dcterms:created xsi:type="dcterms:W3CDTF">2025-11-14T14:31:04Z</dcterms:created>
  <dcterms:modified xsi:type="dcterms:W3CDTF">2026-03-20T15:30:31Z</dcterms:modified>
</cp:coreProperties>
</file>